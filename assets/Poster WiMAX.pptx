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</p:sldMasterIdLst>
  <p:notesMasterIdLst>
    <p:notesMasterId r:id="rId3"/>
  </p:notesMasterIdLst>
  <p:sldIdLst>
    <p:sldId id="361" r:id="rId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Montserrat" panose="020B0604020202020204" charset="0"/>
      <p:regular r:id="rId8"/>
      <p:bold r:id="rId9"/>
      <p:italic r:id="rId10"/>
      <p:boldItalic r:id="rId11"/>
    </p:embeddedFont>
    <p:embeddedFont>
      <p:font typeface="Vidaloka" panose="020B0604020202020204" charset="0"/>
      <p:regular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339FF7-038E-4AE8-ADBE-988FB389D3B5}">
  <a:tblStyle styleId="{2A339FF7-038E-4AE8-ADBE-988FB389D3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 varScale="1">
        <p:scale>
          <a:sx n="61" d="100"/>
          <a:sy n="61" d="100"/>
        </p:scale>
        <p:origin x="67" y="10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heme" Target="theme/theme1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107a9a8b46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107a9a8b46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194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5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>
            <a:spLocks noGrp="1"/>
          </p:cNvSpPr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4" name="Google Shape;154;p21"/>
          <p:cNvSpPr txBox="1">
            <a:spLocks noGrp="1"/>
          </p:cNvSpPr>
          <p:nvPr>
            <p:ph type="title" idx="2" hasCustomPrompt="1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 b="1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>
            <a:spLocks noGrp="1"/>
          </p:cNvSpPr>
          <p:nvPr>
            <p:ph type="subTitle" idx="1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10_1_1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8" r:id="rId2"/>
    <p:sldLayoutId id="2147483667" r:id="rId3"/>
    <p:sldLayoutId id="2147483697" r:id="rId4"/>
    <p:sldLayoutId id="2147483698" r:id="rId5"/>
    <p:sldLayoutId id="2147483699" r:id="rId6"/>
    <p:sldLayoutId id="2147483700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71"/>
          <p:cNvSpPr txBox="1">
            <a:spLocks noGrp="1"/>
          </p:cNvSpPr>
          <p:nvPr>
            <p:ph type="title"/>
          </p:nvPr>
        </p:nvSpPr>
        <p:spPr>
          <a:xfrm>
            <a:off x="0" y="388306"/>
            <a:ext cx="4321478" cy="9519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dirty="0" smtClean="0"/>
              <a:t>           </a:t>
            </a:r>
            <a:r>
              <a:rPr lang="fr-FR" b="1" dirty="0" err="1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WiMAX</a:t>
            </a: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en-US" sz="12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Worldwide Interoperability for Microwave Access  —  IEEE 802.16</a:t>
            </a:r>
            <a:endParaRPr lang="fr-FR" sz="1200" dirty="0"/>
          </a:p>
        </p:txBody>
      </p:sp>
      <p:sp>
        <p:nvSpPr>
          <p:cNvPr id="5" name="Google Shape;585;p71"/>
          <p:cNvSpPr txBox="1">
            <a:spLocks noGrp="1"/>
          </p:cNvSpPr>
          <p:nvPr>
            <p:ph type="title"/>
          </p:nvPr>
        </p:nvSpPr>
        <p:spPr>
          <a:xfrm>
            <a:off x="0" y="1442580"/>
            <a:ext cx="4321478" cy="143840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WiMAX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(IEEE 802.16) est un standard de communication sans fil haut débit permettant la transmission de données sur de longues distances par voie hertzienne.</a:t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Il couvre des zones allant de quelque kilomètres en milieu urbain jusqu’à 50Km en zone rurale, avec un débit théorique maximal de 70Mb/s, là ou les infrastructures filières sont absentes ou trop couteuses.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au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121038"/>
              </p:ext>
            </p:extLst>
          </p:nvPr>
        </p:nvGraphicFramePr>
        <p:xfrm>
          <a:off x="273484" y="2818212"/>
          <a:ext cx="3774510" cy="1833425"/>
        </p:xfrm>
        <a:graphic>
          <a:graphicData uri="http://schemas.openxmlformats.org/drawingml/2006/table">
            <a:tbl>
              <a:tblPr firstRow="1" bandRow="1">
                <a:tableStyleId>{2A339FF7-038E-4AE8-ADBE-988FB389D3B5}</a:tableStyleId>
              </a:tblPr>
              <a:tblGrid>
                <a:gridCol w="1887255">
                  <a:extLst>
                    <a:ext uri="{9D8B030D-6E8A-4147-A177-3AD203B41FA5}">
                      <a16:colId xmlns:a16="http://schemas.microsoft.com/office/drawing/2014/main" val="3924288848"/>
                    </a:ext>
                  </a:extLst>
                </a:gridCol>
                <a:gridCol w="1887255">
                  <a:extLst>
                    <a:ext uri="{9D8B030D-6E8A-4147-A177-3AD203B41FA5}">
                      <a16:colId xmlns:a16="http://schemas.microsoft.com/office/drawing/2014/main" val="322239193"/>
                    </a:ext>
                  </a:extLst>
                </a:gridCol>
              </a:tblGrid>
              <a:tr h="313472"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00B0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</a:t>
                      </a:r>
                      <a:r>
                        <a:rPr lang="en-US" sz="1400" b="0" dirty="0" err="1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Apports</a:t>
                      </a:r>
                      <a:r>
                        <a:rPr lang="en-US" sz="1400" b="1" dirty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dirty="0" smtClean="0">
                          <a:solidFill>
                            <a:srgbClr val="FF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</a:t>
                      </a:r>
                      <a:r>
                        <a:rPr lang="fr-FR" sz="1400" b="0" dirty="0" smtClean="0">
                          <a:solidFill>
                            <a:schemeClr val="tx1"/>
                          </a:solidFill>
                          <a:latin typeface="Arial"/>
                          <a:ea typeface="Calibri" pitchFamily="34" charset="-122"/>
                          <a:cs typeface="Arial"/>
                        </a:rPr>
                        <a:t>Limites</a:t>
                      </a:r>
                      <a:r>
                        <a:rPr lang="fr-FR" sz="1400" b="0" baseline="0" dirty="0" smtClean="0">
                          <a:solidFill>
                            <a:schemeClr val="tx1"/>
                          </a:solidFill>
                          <a:latin typeface="Arial"/>
                          <a:ea typeface="Calibri" pitchFamily="34" charset="-122"/>
                          <a:cs typeface="Arial"/>
                        </a:rPr>
                        <a:t> </a:t>
                      </a:r>
                      <a:endParaRPr lang="en-GB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430993"/>
                  </a:ext>
                </a:extLst>
              </a:tr>
              <a:tr h="1519953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Couverture jusqu’à 50 km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Débit</a:t>
                      </a: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jusqu’à 70 Mb/s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Sans infrastructure </a:t>
                      </a:r>
                      <a:r>
                        <a:rPr lang="fr-FR" sz="11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filiare</a:t>
                      </a:r>
                      <a:endParaRPr lang="fr-FR" sz="1100" baseline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Qos</a:t>
                      </a: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native ( 4 classes )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Déploiement rapide &amp; économique</a:t>
                      </a:r>
                      <a:endParaRPr lang="fr-FR" sz="110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Débit</a:t>
                      </a: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&lt; LTE/5G en mobilité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Interférences en zone dense 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Ecosystème industriel limité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Déclin face au 4G LTE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fr-FR" sz="1100" baseline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Peu de terminaux mobiles</a:t>
                      </a:r>
                      <a:endParaRPr lang="en-GB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439941"/>
                  </a:ext>
                </a:extLst>
              </a:tr>
            </a:tbl>
          </a:graphicData>
        </a:graphic>
      </p:graphicFrame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6392" y="1442580"/>
            <a:ext cx="4259197" cy="2202494"/>
          </a:xfrm>
          <a:prstGeom prst="rect">
            <a:avLst/>
          </a:prstGeom>
        </p:spPr>
      </p:pic>
      <p:sp>
        <p:nvSpPr>
          <p:cNvPr id="9" name="Google Shape;585;p71"/>
          <p:cNvSpPr txBox="1">
            <a:spLocks noGrp="1"/>
          </p:cNvSpPr>
          <p:nvPr>
            <p:ph type="title"/>
          </p:nvPr>
        </p:nvSpPr>
        <p:spPr>
          <a:xfrm>
            <a:off x="6858696" y="3645074"/>
            <a:ext cx="2052181" cy="9670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Aicha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Rihan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Ali </a:t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Aswan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Gamal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Abdillahi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Barwako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Ali Mohamed</a:t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Abdichakour</a:t>
            </a: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Ahmed Mohamed </a:t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Abdinasser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Robleh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Abdillahi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Google Shape;585;p71"/>
          <p:cNvSpPr txBox="1">
            <a:spLocks noGrp="1"/>
          </p:cNvSpPr>
          <p:nvPr>
            <p:ph type="title"/>
          </p:nvPr>
        </p:nvSpPr>
        <p:spPr>
          <a:xfrm>
            <a:off x="4446392" y="342377"/>
            <a:ext cx="3918559" cy="99790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/>
            <a:r>
              <a:rPr lang="fr-FR" sz="12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Scénario : 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- Analyse des performances du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WiMAX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WiMAX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Fixe vs Mobile </a:t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 Impact des erreurs radio </a:t>
            </a:r>
            <a:b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- Comparaison </a:t>
            </a:r>
            <a:r>
              <a:rPr lang="fr-FR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WiMAX</a:t>
            </a:r>
            <a:r>
              <a:rPr lang="fr-FR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vs 4G/5G</a:t>
            </a:r>
            <a:endParaRPr lang="fr-FR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à coins arrondis 9"/>
          <p:cNvSpPr/>
          <p:nvPr/>
        </p:nvSpPr>
        <p:spPr>
          <a:xfrm>
            <a:off x="4446392" y="388306"/>
            <a:ext cx="3795734" cy="951979"/>
          </a:xfrm>
          <a:prstGeom prst="round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/>
          <p:cNvSpPr/>
          <p:nvPr/>
        </p:nvSpPr>
        <p:spPr>
          <a:xfrm>
            <a:off x="6858696" y="3684595"/>
            <a:ext cx="1934575" cy="1132113"/>
          </a:xfrm>
          <a:prstGeom prst="rect">
            <a:avLst/>
          </a:prstGeom>
          <a:noFill/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2918389" y="4376649"/>
            <a:ext cx="40460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/>
            </a:r>
            <a:br>
              <a:rPr lang="fr-FR" dirty="0"/>
            </a:br>
            <a:r>
              <a:rPr lang="fr-FR" dirty="0" smtClean="0">
                <a:solidFill>
                  <a:srgbClr val="FF0000"/>
                </a:solidFill>
              </a:rPr>
              <a:t>L3-Informatique / Année Universitaire 2025/2026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693</TotalTime>
  <Words>81</Words>
  <Application>Microsoft Office PowerPoint</Application>
  <PresentationFormat>Affichage à l'écran (16:9)</PresentationFormat>
  <Paragraphs>17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Calibri</vt:lpstr>
      <vt:lpstr>Montserrat</vt:lpstr>
      <vt:lpstr>Times New Roman</vt:lpstr>
      <vt:lpstr>Arial</vt:lpstr>
      <vt:lpstr>Vidaloka</vt:lpstr>
      <vt:lpstr>Minimalist Business Slides XL by Slidesgo</vt:lpstr>
      <vt:lpstr>           WiMAX  Worldwide Interoperability for Microwave Access  —  IEEE 802.16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Minimalist Business Slides</dc:title>
  <dc:creator>hp</dc:creator>
  <cp:lastModifiedBy>HP</cp:lastModifiedBy>
  <cp:revision>34</cp:revision>
  <dcterms:modified xsi:type="dcterms:W3CDTF">2026-04-08T08:29:59Z</dcterms:modified>
</cp:coreProperties>
</file>